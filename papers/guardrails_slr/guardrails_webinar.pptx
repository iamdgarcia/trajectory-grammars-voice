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857250"/>
            <a:ext cx="4023360" cy="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1714500"/>
            <a:ext cx="4023360" cy="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2571750"/>
            <a:ext cx="4023360" cy="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429000"/>
            <a:ext cx="4023360" cy="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4286250"/>
            <a:ext cx="4023360" cy="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1200" y="0"/>
            <a:ext cx="0" cy="514350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1760" y="0"/>
            <a:ext cx="0" cy="514350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02880" y="0"/>
            <a:ext cx="0" cy="514350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73440" y="0"/>
            <a:ext cx="0" cy="5143500"/>
          </a:xfrm>
          <a:prstGeom prst="line">
            <a:avLst/>
          </a:prstGeom>
          <a:noFill/>
          <a:ln w="6350">
            <a:solidFill>
              <a:srgbClr val="3B6F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57200"/>
            <a:ext cx="1463040" cy="22860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7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WEBINAR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777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IA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son, qué opciones existen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cómo elegir la correcta.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1097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58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Daniel García Peña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info@iamdgarcia.com  · 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2801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cero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técnico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39496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guía accesible para todos los perfiles,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negocio hasta ingeniería.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01000" y="49103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del webinar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6187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riesgos reales de los LLMs sin control.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9848" y="215798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5915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es un guardrail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técnica y metáfora.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" y="325526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tres tipos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Extrínseco, aumentado e intrínseco.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9848" y="435254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26187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76088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Opciones open-source y propietarias hoy.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76088" y="215798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35915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elegir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76088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de decisión paso a paso.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76088" y="325526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456432"/>
            <a:ext cx="4572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76088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corporativo, médico y creativo.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76088" y="4352544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LLMs sin control son impredecibles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categorías de riesgo que justifican los guardrails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1920240" cy="32461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25880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90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Alucinaciones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37160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1645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genera información falsa con aparente confianza. Una cita médica inventada, un dato financiero incorrecto o una referencia jurídica inexistente.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78024" y="1325880"/>
            <a:ext cx="1920240" cy="324612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8024" y="1325880"/>
            <a:ext cx="1920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90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dañino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938528"/>
            <a:ext cx="1371600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075688"/>
            <a:ext cx="1645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Instrucciones para actividades ilegales, lenguaje de odio, violencia o incitación al autolesión. Sin filtros, cualquier usuario puede provocarlo.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325880"/>
            <a:ext cx="1920240" cy="32461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44568" y="132588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490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Fuga de datos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1938528"/>
            <a:ext cx="137160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075688"/>
            <a:ext cx="1645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puede revelar información confidencial presente en su contexto de sistema o en los datos de entrenamiento si se le pregunta de cierta manera.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1112" y="1325880"/>
            <a:ext cx="1920240" cy="3246120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1325880"/>
            <a:ext cx="1920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1490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48272" y="1938528"/>
            <a:ext cx="137160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075688"/>
            <a:ext cx="1645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ingeniería de prompts que consiguen que el modelo ignore sus instrucciones y actúe fuera de los límites definidos.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es un guardrail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8321040" cy="13716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8001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guardrail es cualquier mecanismo que detecta, filtra o modifica la entrada o salida de un LLM para mantenerlo dentro de límites seguros, éticos y alineados con el objetivo del sistema.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78892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71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 contenido problemático antes o después de la generación.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788920"/>
            <a:ext cx="2606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971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Bloquear respuestas que no cumplen las políticas definidas.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7889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788920"/>
            <a:ext cx="2606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971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Corregir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Reformular o redirigir para obtener una respuesta aceptable.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tres tipos de guardrail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Clasificados por donde se aplican en el ciclo de vida del modelo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188720"/>
            <a:ext cx="1600200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1887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426464"/>
            <a:ext cx="228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88720"/>
            <a:ext cx="1600200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887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426464"/>
            <a:ext cx="228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188720"/>
            <a:ext cx="1600200" cy="47548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1887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Salida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426464"/>
            <a:ext cx="228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188720"/>
            <a:ext cx="1600200" cy="47548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887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901952"/>
            <a:ext cx="8321040" cy="84124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901952"/>
            <a:ext cx="54864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Cuando: Pre- y post-generación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1993392"/>
            <a:ext cx="0" cy="658368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993392"/>
            <a:ext cx="0" cy="658368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1993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Clasificadores externos inspeccionan entrada y salida. El modelo base no cambia.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Fácil de instalar, actualizar y cambiar sin reentrenar.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2359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Latencia adicional. No actúa durante la generación.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852928"/>
            <a:ext cx="8321040" cy="84124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852928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Aumentado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255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Cuando: Generación asistida por herramientas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48840" y="2944368"/>
            <a:ext cx="0" cy="658368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2944368"/>
            <a:ext cx="0" cy="658368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944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LLM se combina con modelos especializados, visión u otras herramientas.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926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Comprende contexto visual y semántico más rico.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Mayor complejidad y coste computacional.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3803904"/>
            <a:ext cx="8321040" cy="841248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803904"/>
            <a:ext cx="54864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Intrínseco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Cuando: Entrenamiento del modelo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48840" y="3895344"/>
            <a:ext cx="0" cy="658368"/>
          </a:xfrm>
          <a:prstGeom prst="line">
            <a:avLst/>
          </a:prstGeom>
          <a:noFill/>
          <a:ln w="9525">
            <a:solidFill>
              <a:srgbClr val="BBF7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0680" y="3895344"/>
            <a:ext cx="0" cy="658368"/>
          </a:xfrm>
          <a:prstGeom prst="line">
            <a:avLst/>
          </a:prstGeom>
          <a:noFill/>
          <a:ln w="9525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8953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comportamiento seguro se aprende directamente. No hay capa externa.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877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Sin latencia. Comportamiento seguro por defecto.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4261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Requiere reentrenamiento costoso. Difícil de ajustar después.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disponibles hoy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y propietarias — sin reentrenar el modelo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1920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3350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Guard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" y="1664208"/>
            <a:ext cx="91440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4480" y="1664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9019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9751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Clasificador de Meta. Analiza entradas y salidas vía API. Punto de entrada recomendado.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05456" y="12070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207008"/>
            <a:ext cx="1920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13350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ShieldLM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33472" y="1664208"/>
            <a:ext cx="91440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48456" y="1664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633472" y="19019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9751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Alternativa con soporte multilingüe. Buena línea base para contextos europeos.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9432" y="12070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1207008"/>
            <a:ext cx="1920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13350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WildGuard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27448" y="1664208"/>
            <a:ext cx="91440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42432" y="1664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27448" y="19019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19751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Post-generación con cobertura ampliada de wildcards. Mejora recall en casos extremos.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3408" y="12070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1207008"/>
            <a:ext cx="1920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13350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NeMo Rails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21424" y="1664208"/>
            <a:ext cx="914400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1664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36408" y="1664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21424" y="19019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19751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de NVIDIA. Rails configurables en YAML. Pre y post-generación.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0358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035808"/>
            <a:ext cx="192024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31638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Constitutional AI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39496" y="3493008"/>
            <a:ext cx="914400" cy="1828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Intrínseco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554480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Propietario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39496" y="37307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" y="38039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de Anthropic: el modelo se autocrítica según una constitución de principios.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05456" y="30358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05456" y="3035808"/>
            <a:ext cx="192024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33472" y="31638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RLHF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2633472" y="3493008"/>
            <a:ext cx="914400" cy="1828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33472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Intrínseco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48456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Propietario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633472" y="37307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38039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GPT-4, Llama 2 y la mayoría de modelos modernos. Requiere reentrenamiento.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99432" y="30358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99432" y="3035808"/>
            <a:ext cx="1920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27448" y="31638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SafeVLM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27448" y="3493008"/>
            <a:ext cx="914400" cy="18288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27448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Aumentado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742432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27448" y="37307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38039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 para modelos de visión-lenguaje. Filtra contenido visual inapropiado.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693408" y="3035808"/>
            <a:ext cx="192024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93408" y="3035808"/>
            <a:ext cx="1920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21424" y="31638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MLLM-Protector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821424" y="3493008"/>
            <a:ext cx="914400" cy="18288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21424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Aumentado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836408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821424" y="3730752"/>
            <a:ext cx="166420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21424" y="380390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 post-generación para LLMs multimodales. Actúa como capa de revisión final.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elegir: cinco preguntas clave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39776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1051560"/>
            <a:ext cx="21031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051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93992" y="1051560"/>
            <a:ext cx="235000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105156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389888"/>
            <a:ext cx="3977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38988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¿Controlas el entrenamiento del modelo?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389888"/>
            <a:ext cx="21031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389888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Considera guardrails intrínsecos (RLHF, Const. AI)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93992" y="1389888"/>
            <a:ext cx="2350008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389888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guardrails extrínsecos (Llama Guard, NeMo)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057400"/>
            <a:ext cx="3977640" cy="6217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0574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¿Tienes requisitos de latencia estrictos?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2057400"/>
            <a:ext cx="21031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057400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 intrínseco o filtra solo las salidas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93992" y="2057400"/>
            <a:ext cx="2350008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057400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Puedes añadir capas pre- y post-generación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724912"/>
            <a:ext cx="3977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72491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¿Tu contenido incluye imágenes o audio?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2724912"/>
            <a:ext cx="21031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724912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Necesitas guardrails aumentados (SafeVLM)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93992" y="2724912"/>
            <a:ext cx="2350008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724912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clasificadores de texto son suficientes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392424"/>
            <a:ext cx="3977640" cy="6217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392424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¿Necesitas cumplimiento regulatorio auditable?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3392424"/>
            <a:ext cx="21031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3392424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Capas externas con logging (NeMo Rails)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93992" y="3392424"/>
            <a:ext cx="2350008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392424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guardrail básico puede ser suficiente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59936"/>
            <a:ext cx="3977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0599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 ¿Tienes recursos para mantener el sistema?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4059936"/>
            <a:ext cx="210312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405993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multicapa: intrínseco + extrínseco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93992" y="4059936"/>
            <a:ext cx="2350008" cy="62179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405993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Empieza con un clasificador sencillo vía API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1: Chatbot corporativo de RRHH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Asistente interno para vacaciones, nóminas y política de empresa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374904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Revelar salarios de otros empleados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374904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311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 consejos legales sin disclaimers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89504"/>
            <a:ext cx="374904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95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Comentarios discriminatorios sobre candidatos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3749040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478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 para extraer datos del sistema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62272" y="1207008"/>
            <a:ext cx="0" cy="3429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recomendado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572768"/>
            <a:ext cx="4114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572768"/>
            <a:ext cx="54864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Pre-generación  ·  Llama Guard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1956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 intención maliciosa en la pregunta del usuario.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532888"/>
            <a:ext cx="4114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532888"/>
            <a:ext cx="54864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Post-generación  ·  WildGuard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9744" y="2916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Filtra respuestas con datos personales o información sensible.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493008"/>
            <a:ext cx="4114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493008"/>
            <a:ext cx="54864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 ·  Instrucciones duras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9744" y="3877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explícitas: 'Nunca reveles salarios ni datos de terceros'.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617720"/>
            <a:ext cx="8321040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4617720"/>
            <a:ext cx="8101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Clave: no necesitas reentrenar el modelo. Con capas externas es suficiente.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2: Asistente médico para pacientes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 regulación — el caso que requiere más capas de protección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8321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399032"/>
            <a:ext cx="34747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16367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con RLHF o Constitutional AI, ya entrenado para ser conservador en temas de salud. Primera línea de defensa.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30552"/>
            <a:ext cx="8321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30552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2295144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984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Pre-generación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25328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Guard filtra preguntas sobre autolesiones, medicamentos ilegales o solicitudes de diagnóstico irresponsable.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026664"/>
            <a:ext cx="8321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26664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" y="3191256"/>
            <a:ext cx="3474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9848" y="3118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Post-generación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" y="34290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Clasificador médico especializado revisa que la respuesta incluya siempre el disclaimer 'consulta a tu médico'.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922776"/>
            <a:ext cx="8321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22776"/>
            <a:ext cx="54864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" y="4087368"/>
            <a:ext cx="347472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9848" y="4014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y auditoría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43251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NeMo Rails registra todos los intentos bloqueados para revisión regulatoria y cumplimiento legal.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828032"/>
            <a:ext cx="832104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3: Plataforma de escritura creativa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reto: guardrails demasiado estrictos destruyen la experiencia de uso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Libertad creativa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8339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legalidad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1847088"/>
            <a:ext cx="2651760" cy="269748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47088"/>
            <a:ext cx="26517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75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permite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50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Violencia literaria contextualizada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437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Personajes moralmente complejos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adulto (con verificación de edad)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31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 crudo en contexto artístico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9544" y="1847088"/>
            <a:ext cx="2651760" cy="269748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9544" y="1847088"/>
            <a:ext cx="26517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1975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Nunca se permite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46704" y="2350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CSAM (línea roja absoluta e ilegal)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46704" y="28437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Instrucciones reales para actividades ilegales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6704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Desinformación presentada como hecho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46704" y="3831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personales reales de terceros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07608" y="1847088"/>
            <a:ext cx="2651760" cy="269748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1847088"/>
            <a:ext cx="26517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975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recomendado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2350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post-generación: no filtrar creatividad en entrada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28437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Umbrales ajustables por categoría de contenido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3375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flags + revisión humana en casos límite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44768" y="3831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Constitutional AI con constitución menos restrictiva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910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8120" y="4910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Comparativa: ¿cuál te conviene?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21945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051560"/>
            <a:ext cx="19202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Extrínseco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1920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Aumentado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051560"/>
            <a:ext cx="1920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051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Intrínseco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444752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444752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Facilidad de implementar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1444752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44475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Muy alta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444752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4475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444752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44475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1865376"/>
            <a:ext cx="219456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1865376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Latencia añadida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97480" y="1865376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186537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Media-Alta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865376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86537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865376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86537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Ninguna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286000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2286000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granular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97480" y="228600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228600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28600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28600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228600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28600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2706624"/>
            <a:ext cx="219456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2706624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Coste de actualizar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697480" y="2706624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270662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706624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70662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2706624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70662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Muy alto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127248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" y="3127248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reentrenamiento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97480" y="312724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31272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312724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1272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20840" y="3127248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312724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3547872"/>
            <a:ext cx="219456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3547872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Soporta multimodal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697480" y="3547872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97480" y="354787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Limitado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3547872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354787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20840" y="3547872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354787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1480" y="3968496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208" y="3968496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 / loggable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697480" y="396849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97480" y="396849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09160" y="396849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9160" y="396849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720840" y="396849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3968496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11480" y="4389120"/>
            <a:ext cx="219456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" y="4389120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para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697480" y="4389120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97480" y="43891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y producción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09160" y="4389120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09160" y="43891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visual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720840" y="4389120"/>
            <a:ext cx="1920240" cy="3931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0840" y="43891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propios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existe un guardrail universal.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caso tiene riesgos distintos. Empieza identificándolos.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5074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6420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extrínsecos son tu punto de entrada.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Guard o NeMo Rails, sin reentrenar nada.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322576"/>
            <a:ext cx="5074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1401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 para el peor caso, no el promedio.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solo prompt malicioso puede causar daño real.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072384"/>
            <a:ext cx="5074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6382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guardrails son un sistema vivo.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Requieren monitoreo continuo, no es instala y olvida.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822192"/>
            <a:ext cx="5074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136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guardrails no siempre es mejor.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equilibrio entre seguridad y utilidad es una decisión de negocio.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1097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20116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Daniel García Peña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info@iamdgarcia.com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651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orcid.org/0000-0002-1456-4785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219456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Slides disponibles en GitHub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864608"/>
            <a:ext cx="5074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910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en IA — Webinar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89120" y="49103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Guardrails en IA</dc:title>
  <dc:subject>PptxGenJS Presentation</dc:subject>
  <dc:creator>PptxGenJS</dc:creator>
  <cp:lastModifiedBy>PptxGenJS</cp:lastModifiedBy>
  <cp:revision>1</cp:revision>
  <dcterms:created xsi:type="dcterms:W3CDTF">2026-06-16T07:38:56Z</dcterms:created>
  <dcterms:modified xsi:type="dcterms:W3CDTF">2026-06-16T07:38:56Z</dcterms:modified>
</cp:coreProperties>
</file>